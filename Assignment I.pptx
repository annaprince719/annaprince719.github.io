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29C561-DC26-4189-8985-6EA5C601BC8B}">
  <a:tblStyle styleId="{0029C561-DC26-4189-8985-6EA5C601BC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4450c8c4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4450c8c4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4450c8c4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4450c8c4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4450c8c4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4450c8c4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4450c8c4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4450c8c4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I	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Anna Prince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Databases in my life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6-02-05 at 9.37.5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85" y="2097938"/>
            <a:ext cx="3061399" cy="1525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 txBox="1"/>
          <p:nvPr/>
        </p:nvSpPr>
        <p:spPr>
          <a:xfrm>
            <a:off x="6021300" y="3715415"/>
            <a:ext cx="28110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Crowdsourced information hubs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4" name="Google Shape;64;p14" title="Screenshot 2026-02-05 at 9.42.5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1326" y="1728726"/>
            <a:ext cx="2810974" cy="1938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" name="Google Shape;65;p14"/>
          <p:cNvSpPr txBox="1"/>
          <p:nvPr/>
        </p:nvSpPr>
        <p:spPr>
          <a:xfrm>
            <a:off x="314975" y="3718550"/>
            <a:ext cx="28110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Designated research journal/conference hubs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6" name="Google Shape;66;p14" title="Screenshot 2026-02-05 at 10.04.3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7851" y="1562185"/>
            <a:ext cx="1996796" cy="21092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" name="Google Shape;67;p14"/>
          <p:cNvSpPr txBox="1"/>
          <p:nvPr/>
        </p:nvSpPr>
        <p:spPr>
          <a:xfrm>
            <a:off x="3515350" y="3718565"/>
            <a:ext cx="2296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Race signup &amp; results platforms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</a:t>
            </a:r>
            <a:endParaRPr/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240375" y="360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{0029C561-DC26-4189-8985-6EA5C601BC8B}</a:tableStyleId>
              </a:tblPr>
              <a:tblGrid>
                <a:gridCol w="2061400"/>
                <a:gridCol w="2061400"/>
                <a:gridCol w="2733750"/>
                <a:gridCol w="1806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Proposal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Function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Interface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Existing Example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Database of regional dialects, rarely spoken, or endangered languages.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Facilitate linguistic research for understudied language families or regional dialects.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Search by language or region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similar dialects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speakers for research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Glottolog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Database of neologisms or emerging slang.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Improve auto-translation services or spam/threat reporting. Aid in ethnographic research.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Search by term or community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term meaning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associated communities or dialects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Example usages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Urban Dictionary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Database of understudied language programs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Speed up research participant recruitment or hiring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Search by language,region, or expertise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university affiliation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language focus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other hard skills, etc.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Q6: Possible Social Media Tables</a:t>
            </a:r>
            <a:endParaRPr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311700" y="1260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{0029C561-DC26-4189-8985-6EA5C601BC8B}</a:tableStyleId>
              </a:tblPr>
              <a:tblGrid>
                <a:gridCol w="1236825"/>
                <a:gridCol w="1113325"/>
                <a:gridCol w="1056675"/>
              </a:tblGrid>
              <a:tr h="4978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“Human-ness”</a:t>
                      </a:r>
                      <a:endParaRPr b="1"/>
                    </a:p>
                  </a:txBody>
                  <a:tcPr marT="91425" marB="91425" marR="91425" marL="91425"/>
                </a:tc>
                <a:tc hMerge="1"/>
                <a:tc hMerge="1"/>
              </a:tr>
              <a:tr h="49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Handle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Followers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DMs_Sent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@Real_user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@Fake_User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0" name="Google Shape;80;p16"/>
          <p:cNvGraphicFramePr/>
          <p:nvPr/>
        </p:nvGraphicFramePr>
        <p:xfrm>
          <a:off x="2557760" y="31491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{0029C561-DC26-4189-8985-6EA5C601BC8B}</a:tableStyleId>
              </a:tblPr>
              <a:tblGrid>
                <a:gridCol w="1498600"/>
                <a:gridCol w="889000"/>
                <a:gridCol w="2320475"/>
              </a:tblGrid>
              <a:tr h="100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“Interesting” posts</a:t>
                      </a:r>
                      <a:endParaRPr b="1"/>
                    </a:p>
                  </a:txBody>
                  <a:tcPr marT="91425" marB="91425" marR="91425" marL="91425"/>
                </a:tc>
                <a:tc hMerge="1"/>
                <a:tc hMerge="1"/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Post_wc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Avg_min_spent_reading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Interesting_Post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Boring_Post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1" name="Google Shape;81;p16"/>
          <p:cNvGraphicFramePr/>
          <p:nvPr/>
        </p:nvGraphicFramePr>
        <p:xfrm>
          <a:off x="4234900" y="1254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{0029C561-DC26-4189-8985-6EA5C601BC8B}</a:tableStyleId>
              </a:tblPr>
              <a:tblGrid>
                <a:gridCol w="1485050"/>
                <a:gridCol w="1485050"/>
                <a:gridCol w="1485050"/>
              </a:tblGrid>
              <a:tr h="5311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Community Moderation</a:t>
                      </a:r>
                      <a:endParaRPr b="1"/>
                    </a:p>
                  </a:txBody>
                  <a:tcPr marT="91425" marB="91425" marR="91425" marL="91425"/>
                </a:tc>
                <a:tc hMerge="1"/>
                <a:tc hMerge="1"/>
              </a:tr>
              <a:tr h="29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Subreddit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Posts_reported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Posts_removed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r/moderated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r/unmoderated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No-SQL versus SQL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 title="Screenshot 2026-02-05 at 12.34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00" y="1517672"/>
            <a:ext cx="3797652" cy="210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4845725" y="3673914"/>
            <a:ext cx="39336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2000s: less structured and more diverse data, especially for social media, doesn’t suit table format.</a:t>
            </a:r>
            <a:endParaRPr i="1" sz="1800">
              <a:solidFill>
                <a:schemeClr val="dk2"/>
              </a:solidFill>
            </a:endParaRPr>
          </a:p>
        </p:txBody>
      </p:sp>
      <p:graphicFrame>
        <p:nvGraphicFramePr>
          <p:cNvPr id="90" name="Google Shape;90;p17"/>
          <p:cNvGraphicFramePr/>
          <p:nvPr/>
        </p:nvGraphicFramePr>
        <p:xfrm>
          <a:off x="529150" y="166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{0029C561-DC26-4189-8985-6EA5C601BC8B}</a:tableStyleId>
              </a:tblPr>
              <a:tblGrid>
                <a:gridCol w="2062250"/>
                <a:gridCol w="2062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SQL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No-SQL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Relational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Non-Relational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Requires consistency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“Eventual consistency”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Row &amp; columns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Diverse formats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Scales vertically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Scales horizontally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